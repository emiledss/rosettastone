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E5C8A"/>
                </a:solidFill>
                <a:latin typeface="Calibri"/>
              </a:defRPr>
            </a:pPr>
            <a:r>
              <a:t>Rosetta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A1A1A"/>
                </a:solidFill>
                <a:latin typeface="Calibri"/>
              </a:defRPr>
            </a:pPr>
            <a:r>
              <a:t>Traduction automatique FR→EN (Seq2Seq)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E6E6E"/>
                </a:solidFill>
                <a:latin typeface="Calibri"/>
              </a:defRPr>
            </a:pPr>
            <a:r>
              <a:t>RNN simple vs GRU, avec attention additive (Bahdanau) en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E6E6E"/>
                </a:solidFill>
                <a:latin typeface="Calibri"/>
              </a:defRPr>
            </a:pPr>
            <a:r>
              <a:t>Soutenance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Objectif et 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Traduire automatiquement du français vers l'anglais avec un modèle seq2seq (encodeur-décodeur récurrent).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Comparaison contrôlée : RNN simple vs GRU, avec attention additive de Bahdanau en option.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Périmètre : corpus Tatoeba → nettoyage et anti-fuite → 6 configurations de tokenisation → recherche d'hyperparamètres (Optuna) → entraînement final → évaluation en génération libre (SacreBLEU, BERTScore).</a:t>
            </a:r>
          </a:p>
        </p:txBody>
      </p:sp>
      <p:pic>
        <p:nvPicPr>
          <p:cNvPr id="4" name="Picture 3" descr="aed_37_couverture_o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544083"/>
            <a:ext cx="4937760" cy="1861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623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Contexte : coût de la couverture lexicale (détail diapositive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Le corpus Tatoeba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264 905 phrases brutes → 625 filtrées (0,24 %) → 264 280 nettoyées.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1 402 doublons exacts retirés après normalisation → 262 878 paires finales.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Longueur médiane 6–7 mots ; p99 ≈ 19–21 mots ; max 40 mots après coupe.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 corpus est très majoritairement sous le seuil de décrochage de l'attention de Bahdanau (~15–20 mots) → d'où les bins d'évaluation par longueur (diapositive 12).</a:t>
            </a:r>
          </a:p>
        </p:txBody>
      </p:sp>
      <p:pic>
        <p:nvPicPr>
          <p:cNvPr id="4" name="Picture 3" descr="aed_26_distribution_longu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528701"/>
            <a:ext cx="4937760" cy="1892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623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Distribution des longueurs (caractères et mots), FR vs 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Zipf et couverture lexicale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Distribution de Zipf : peu de formes très fréquentes, longue traîne de formes rares.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95 % des occurrences couvertes par ≈ 3 700 formes EN / 7 000 formes FR.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Sert au dimensionnement du vocabulaire (config words95, diapositive 7).</a:t>
            </a:r>
          </a:p>
        </p:txBody>
      </p:sp>
      <p:pic>
        <p:nvPicPr>
          <p:cNvPr id="4" name="Picture 3" descr="aed_35_zi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51068"/>
            <a:ext cx="4937760" cy="32473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623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Courbe de Zipf (rang / fréquence, log-log), FR et 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Hapax et richesse lexicale</a:t>
            </a:r>
          </a:p>
        </p:txBody>
      </p:sp>
      <p:pic>
        <p:nvPicPr>
          <p:cNvPr id="3" name="Picture 2" descr="aed_41_hapax_t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86" y="1143000"/>
            <a:ext cx="10916122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Hapax legomena et type-token ratio (TTR)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Les hapax (formes vues une seule fois) : 38 % du vocabulaire pour ~0,6 % de couverture — coût du dernier pourcent.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C'est cet argument qui justifie la coupe à 95 % de couverture (vocabulaire words95, diapositive 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Pipeline de données et anti-fuite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Nettoyage → normalisation → dédoublonnage → split groupé par phrase cible EN.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264 905 brutes → 625 filtrées → 264 280 nettoyées → 1 402 doublons exacts retirés (après normalisation) → 262 878 paires finales.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Split 70/15/15 (seed 42) : train 183 994 / val 39 367 / test 39 517.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Non-fuite = 0 sur les trois paires (vérifiée sur cibles EN normalisées).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Pourquoi grouper par cible EN : 25 % des phrases EN sont dupliquées (alignements 1→N légitimes) — sans regroupement, une même cible se retrouverait dans plusieurs splits.</a:t>
            </a:r>
          </a:p>
        </p:txBody>
      </p:sp>
      <p:pic>
        <p:nvPicPr>
          <p:cNvPr id="4" name="Picture 3" descr="aed_28_ratio_longu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89960"/>
            <a:ext cx="4937760" cy="3769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623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Ratio de longueur FR/EN par paire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Tokenisation : 6 configurations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4114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Taille vocab.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Régime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mots entiers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35 282 / 23 365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séparé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words95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mots entiers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6 753 / 3 520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séparé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bpe4k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4 000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conjoint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bpe8k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conjoint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unigram4k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Unigram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4 000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conjoint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unigram8k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Unigram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conjoint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aed_39_couverture_seu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46803"/>
            <a:ext cx="6766560" cy="2592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42976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Couverture cumulée (seuils 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Taille vocab. : FR/EN si séparé, total si conjoint.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Conjoint : un seul modèle SentencePiece FR+EN — cognats mutualisés (Jaccard 54,0 % BPE / 39,9 % Unigram à 4k).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Séparé : vocabulaires asymétriques (ex. words95 : 6 753 FR vs 3 520 EN).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Encodeur = FR seul, décodeur = EN seul → pas de risque d'homographes inter-langues (Sennrich et al., 2016).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BPE vs Unigram — distribution de Zipf</a:t>
            </a:r>
          </a:p>
        </p:txBody>
      </p:sp>
      <p:pic>
        <p:nvPicPr>
          <p:cNvPr id="3" name="Picture 2" descr="fig_zipf_bpe_vs_uni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6755"/>
            <a:ext cx="11277295" cy="34272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Zipf superposé (BPE vs Unigram)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BPE fusionne les paires fréquentes (bottom-up) ; Unigram élague un grand vocabulaire (top-down) — les deux convergent vers la même Zipf.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Exploration, pas comparaison contrôlée (un seul run par config).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BPE vs Unigram — longueur des tokens</a:t>
            </a:r>
          </a:p>
        </p:txBody>
      </p:sp>
      <p:pic>
        <p:nvPicPr>
          <p:cNvPr id="3" name="Picture 2" descr="fig_longueur_tokens_caracte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6755"/>
            <a:ext cx="11277295" cy="34272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Longueur des tokens (caractères), FR et 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C'est sur la longueur des tokens, pas sur Zipf, que l'écart entre BPE et Unigram se lit vraiment.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BPE partage davantage de tokens entre FR et EN que Unigram (Jaccard 54,0 % vs 39,9 % à 4k).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Encodeur-décodeur et goulot d'étranglement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526030" cy="118872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74670" y="1856232"/>
            <a:ext cx="320040" cy="219456"/>
          </a:xfrm>
          <a:prstGeom prst="rightArrow">
            <a:avLst/>
          </a:prstGeom>
          <a:solidFill>
            <a:srgbClr val="6E6E6E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94710" y="1371600"/>
            <a:ext cx="2526030" cy="118872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Cellule récurrente</a:t>
            </a:r>
            <a:br/>
            <a:r>
              <a:t>(RNN / GRU)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20740" y="1856232"/>
            <a:ext cx="320040" cy="219456"/>
          </a:xfrm>
          <a:prstGeom prst="rightArrow">
            <a:avLst/>
          </a:prstGeom>
          <a:solidFill>
            <a:srgbClr val="6E6E6E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0780" y="1371600"/>
            <a:ext cx="2526030" cy="118872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Vecteur de contexte</a:t>
            </a:r>
            <a:br/>
            <a:r>
              <a:t>unique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66810" y="1856232"/>
            <a:ext cx="320040" cy="219456"/>
          </a:xfrm>
          <a:prstGeom prst="rightArrow">
            <a:avLst/>
          </a:prstGeom>
          <a:solidFill>
            <a:srgbClr val="6E6E6E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86850" y="1371600"/>
            <a:ext cx="2526030" cy="1188720"/>
          </a:xfrm>
          <a:prstGeom prst="round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Décodeur → sortie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Sans attention : toute l'information de la phrase source est compressée dans un unique vecteur de contexte — le goulot d'étranglement (Cho et al., 2014).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Avec attention (Bahdanau, Cho &amp; Bengio, 2015) : à chaque pas, le décodeur consulte l'ensemble des états de l'encodeur, pondérés dynamiquement.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Nuance : ici, l'attention est isolée sur un encodeur unidirectionnel identique à la version sans attention — protocole plus restreint que celui de Bahdanau et al. (encodeur bidirectionnel dans l'article original).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Teacher forcing et scheduled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En teacher forcing (l'entrée du décodeur à t+1 est le mot cible réel), l'accuracy mesurée pendant l'entraînement est gonflée : le modèle ne voit jamais ses erreurs s'accumuler.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Biais d'exposition : en génération libre, le modèle doit se recopier lui-même — une erreur précoce peut se propager.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Scheduled sampling : probabilité de teacher forcing décroissante au fil des epochs, ratio(e) = decay^(e-1).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decay cherché dans [0,7 ; 1,0] ; decay = 1,0 = témoin sans décroissance (teacher forcing constant).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Meilleurs essais observés à decay ≈ 0,96–0,98.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Évaluation : génération libre et deux métriques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Génération libre uniquement (jamais teacher forcing) — seule condition comparable à un usage réel.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Deux métriques : SacreBLEU (lowercase, corpus déjà en minuscules) et BERTScore (backbone distilbert, 3 000 paires).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Plancher de référence : sortie constante « i do n't know » = 0,99 BLEU.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Bins par longueur : courte ≤ 18 mots, longue &gt; 18 mots.</a:t>
            </a:r>
          </a:p>
        </p:txBody>
      </p:sp>
      <p:pic>
        <p:nvPicPr>
          <p:cNvPr id="4" name="Picture 3" descr="aed_27_dispersion_longu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11024"/>
            <a:ext cx="6766560" cy="2578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50292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Dispersion des longueurs (mots) par langue — base des bins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Recherche d'hyperparamètres (Optuna)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Espace de recherche : tokeniseur, taux d'apprentissage (1e-4 → 5e-3), taille cachée, taille d'embedding, dropout, decay.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Objectif = SacreBLEU en génération libre, pas la loss (non comparable entre tokenisations : 4 000 classes vs 23 365).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MedianPruner ; 60 essais par étude, 12 epochs par essai ; sous-échantillon stratifié 40 % du train ; une étude par architecture, reprise sur interruption.</a:t>
            </a:r>
          </a:p>
        </p:txBody>
      </p:sp>
      <p:pic>
        <p:nvPicPr>
          <p:cNvPr id="4" name="Picture 3" descr="fig_importance_g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81651"/>
            <a:ext cx="4389120" cy="28717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Importance des hyperparamètres — étude GRU (étude 7, complète)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Résultat central : RNN vs GRU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Test complet, bin courte (39 092 phrases) : RNN 9,74 vs GRU 31,64 — facteur ×3,2.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Bin longue (425 phrases) : RNN 0,70 vs GRU 5,53.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Les deux architectures apprennent : nettement au-dessus du plancher de la sortie constante (≈ 0,99).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RNN : lr 2,17e-4, 50 epochs, non convergé — meilleur BLEU val 9,91. Convergence lente et plafond bas, caractéristiques d'un RNN sans portes.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Effondrement de mode observé sur les premiers essais de recherche (RNN) : trois phrases FR différentes → même sortie « i 'll try to help you » :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    – « il se peut que le bonheur qui nous attend là-bas ne soit pas du tout le genre de bonheur que nous voudrions »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    – « c'est dommage quand quelqu'un meurt »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    – « je ne peux pas réfléchir avec ce bruit dit-elle en fixant des yeux la machine à écrire »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Explication : disparition du gradient sur les séquences longues, limitée par les portes du GRU (Cho et al., 2014).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Entraînement final : évaluation par bin de longueur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SacreBLEU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BERTScore F1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courte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39 092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0,786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longue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0,682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courte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39 092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31,64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0,882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longue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5,53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0,777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gru_attention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courte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39 092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34,10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0,888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gru_attention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longue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0,782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 bin long (&gt; 18 mots, 425 paires) est nettement plus dur que le bin court, pour les trois architectures.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 RNN apprend mais reste nettement sous le GRU sur les deux bins (facteur ×3,2 sur les courtes).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L'attention de Bahdanau : avec ou sans, par bin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7048" y="155448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Sans attention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Avec attention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Gain relatif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courte (≤ 18 mots)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31,64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34,10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+8 %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longue (&gt; 18 mots)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5,53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+37 %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5661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Gain relatif 3× plus fort sur le bin long : prédiction de Bahdanau et al. (2015) vérifiée.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Comparaison propre : mêmes hyperparamètres, même tokeniseur, 11 epochs — seule variable, la présence de l'attention.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Quand BLEU et BERTScore ne sont pas d'accord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BERTScore reste compressé entre 0,68 et 0,89 quand SacreBLEU varie de 0,7 à 34 — anisotropie de l'espace d'embeddings (Zhang et al., 2020).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488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 (source)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Hypothèse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Référence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SacreBLEU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BERTScore F1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wrong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0,854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on dirait qu' elle est saoule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it looks like she is drunk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she looks as if she were drunk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0,892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je n' en ai pas la moindre idée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i do n't have the faintest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i have n't the foggiest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0,891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BLEU compte des n-grammes exacts ; BERTScore compare des embeddings contextuels — une reformulation ou un synonyme valide est pénalisé par BLEU mais pas par BERTScore.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Exemples calculés sur les 3 000 premières paires du test, run gru (v4).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Limites et honnêteté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Corpus relativement court (phrases Tatoeba), pas représentatif de tous les registres.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Hyperparamètres réglés sur un sous-échantillon stratifié à 20 % du train (pas le corpus complet).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SacreBLEU non strictement comparable aux valeurs publiées : corpus en minuscules, clitiques séparés par le tokeniseur.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Recherche RNN fragile : 6 essais complets sur 60 (pruning sévère, convergence lente).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Scheduled sampling : optima proches de 1,0 (0,84 / 0,94) — effet non concluant sur ce corpus.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Exploration des 6 configurations de tokenisation, pas une comparaison contrôlée (pas de recherche d'hyperparamètres dédiée à chacune).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 GRU et le RNN simple apprennent tous deux, mais le GRU l'emporte nettement (×3,2 sur les phrases courtes) ; le RNN n'a pas convergé en 50 epochs — plafond bas d'un modèle sans portes.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L'attention de Bahdanau améliore la traduction sur les deux bins, avec un gain relatif 3× plus fort sur les phrases longues (+37 % vs +8 % sur les courtes) — la prédiction du goulot d'étranglement est vérifiée.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Les vocabulaires sous-mots de petite taille (BPE/Unigram) surpassent nettement les vocabulaires par mots entiers ; Optuna a retenu bpe4340 (RNN) et unigram6539 (GRU).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 bin long (phrases &gt; 18 mots) reste nettement plus dur pour les trois architectures, cohérent avec un corpus de phrases courtes.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Courbes d'entraînement (v4)</a:t>
            </a:r>
          </a:p>
        </p:txBody>
      </p:sp>
      <p:pic>
        <p:nvPicPr>
          <p:cNvPr id="3" name="Picture 2" descr="courbes_entrai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0738"/>
            <a:ext cx="11277295" cy="28193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E6E6E"/>
                </a:solidFill>
                <a:latin typeface="Calibri"/>
              </a:defRPr>
            </a:pPr>
            <a:r>
              <a:t>Courbes d'entraînement (loss / perplexité) des trois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 GRU converge en une dizaine d'epochs (meilleur essai retenu : 11 epochs).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Le RNN n'a pas convergé en 50 epochs — plafond bas, cohérent avec un modèle sans portes.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Hyperparamètres retenus (v4)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tokeniseur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hidden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emb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dropout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decay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bpe4340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2,17e-4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50 (non convergé)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unigram6539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9,53e-4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gru_attention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unigram6539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0,94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9,53e-4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Optuna : 60 essais par étude ; études complètes 6 (rnn, best 3,69) et 7 (gru, best 25,49).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gru_attention reprend exactement les hyperparamètres retenus pour gru — seule variable : la présence de l'attention.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Références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Cho, K., van Merriënboer, B., Gulcehre, C., Bahdanau, D., Bougares, F., Schwenk, H. &amp; Bengio, Y. (2014). Learning Phrase Representations using RNN Encoder-Decoder for Statistical Machine Translation.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Bahdanau, D., Cho, K. &amp; Bengio, Y. (2015). Neural Machine Translation by Jointly Learning to Align and Translate.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Sennrich, R., Haddow, B. &amp; Birch, A. (2016). Neural Machine Translation of Rare Words with Subword Units.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Bengio, S., Vinyals, O., Jaitly, N. &amp; Shazeer, N. (2015). Scheduled Sampling for Sequence Prediction with Recurrent Neural Networks.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Post, M. (2018). A Call for Clarity in Reporting BLEU Scores.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Zhang, T., Kishore, V., Wu, F., Weinberger, K. Q. &amp; Artzi, Y. (2020). BERTScore: Evaluating Text Generation with BERT.</a:t>
            </a:r>
          </a:p>
          <a:p>
            <a:pPr>
              <a:spcAft>
                <a:spcPts val="800"/>
              </a:spcAft>
              <a:defRPr sz="1800">
                <a:solidFill>
                  <a:srgbClr val="2B2B2B"/>
                </a:solidFill>
                <a:latin typeface="Calibri"/>
              </a:defRPr>
            </a:pPr>
            <a:r>
              <a:t>• Akiba, T., Sano, S., Yanase, T., Ohta, T. &amp; Koyama, M. (2019). Optuna: A Next-Generation Hyperparameter Optimization Framework.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